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8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Aceleração de QA com Inteligência e Automação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4DA6FF"/>
                </a:solidFill>
              </a:defRPr>
            </a:pPr>
            <a:r>
              <a:t>Extensão BDD v1.4</a:t>
            </a:r>
          </a:p>
          <a:p>
            <a:r>
              <a:t>Análise de Impacto e ROI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57200"/>
          </a:xfrm>
        </p:spPr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O Desafio Atual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Gargalos no QA Manual: Execução lenta e propensa a erros humanos.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Alto Custo de Automação Tradicional: Requer engenheiros seniores e longo tempo de setup.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Manutenção Complexa: Scripts manuais tendem a se tornar frágeis ('flaky') sem arquitetura rígida.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286000"/>
            <a:ext cx="3657600" cy="2743200"/>
          </a:xfrm>
          <a:prstGeom prst="roundRect">
            <a:avLst/>
          </a:prstGeom>
          <a:solidFill>
            <a:srgbClr val="0B3860"/>
          </a:solidFill>
          <a:ln>
            <a:solidFill>
              <a:srgbClr val="4D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Problema:</a:t>
            </a:r>
          </a:p>
          <a:p>
            <a:r>
              <a:t>Como escalar a qualidade sem aumentar exponencialmente os custos?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57200"/>
          </a:xfrm>
        </p:spPr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A Solução: Extensão BDD v1.4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Conceito: Transformar navegação manual diretamente em código profissional.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Automatiza a Automação: O QA foca no negócio, a ferramenta gera o código.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Output Profissional: Gherkin + Python + Selenium com Page Objects.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286000"/>
            <a:ext cx="3657600" cy="2743200"/>
          </a:xfrm>
          <a:prstGeom prst="roundRect">
            <a:avLst/>
          </a:prstGeom>
          <a:solidFill>
            <a:srgbClr val="0B3860"/>
          </a:solidFill>
          <a:ln>
            <a:solidFill>
              <a:srgbClr val="4D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Inovação:</a:t>
            </a:r>
          </a:p>
          <a:p>
            <a:r>
              <a:t>Reduz a barreira técnica. Um QA Manual entrega automação no Dia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Comparativo: Manual vs Tradicional vs Sistema BDD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Critério</a:t>
                      </a:r>
                    </a:p>
                  </a:txBody>
                  <a:tcPr>
                    <a:solidFill>
                      <a:srgbClr val="0B38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Teste Manual</a:t>
                      </a:r>
                    </a:p>
                  </a:txBody>
                  <a:tcPr>
                    <a:solidFill>
                      <a:srgbClr val="0B38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Automação Tradicional</a:t>
                      </a:r>
                    </a:p>
                  </a:txBody>
                  <a:tcPr>
                    <a:solidFill>
                      <a:srgbClr val="0B38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Sistema BDD (Extensão)</a:t>
                      </a:r>
                    </a:p>
                  </a:txBody>
                  <a:tcPr>
                    <a:solidFill>
                      <a:srgbClr val="0B386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Setup / Criação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Zero (imediato)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Alto (4-8h/cenário)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B3860"/>
                          </a:solidFill>
                        </a:defRPr>
                      </a:pPr>
                      <a:r>
                        <a:t>Mínimo (15min/cenário)</a:t>
                      </a:r>
                    </a:p>
                  </a:txBody>
                  <a:tcPr>
                    <a:solidFill>
                      <a:srgbClr val="DCF0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Esforço Cognitivo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Alto (repetitivo)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Alto (código complexo)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B3860"/>
                          </a:solidFill>
                        </a:defRPr>
                      </a:pPr>
                      <a:r>
                        <a:t>Baixo (gravação)</a:t>
                      </a:r>
                    </a:p>
                  </a:txBody>
                  <a:tcPr>
                    <a:solidFill>
                      <a:srgbClr val="DCF0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Manutenção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N/A (Refazer tudo)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Média/Alta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B3860"/>
                          </a:solidFill>
                        </a:defRPr>
                      </a:pPr>
                      <a:r>
                        <a:t>Baixa (POM Gerado)</a:t>
                      </a:r>
                    </a:p>
                  </a:txBody>
                  <a:tcPr>
                    <a:solidFill>
                      <a:srgbClr val="DC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57200"/>
          </a:xfrm>
        </p:spPr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Velocidade: Time-to-Market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Automação Tradicional: 4 Horas por Cenário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- Análise, Inspeção de Elementos, Page Objects, Código.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Com Extensão BDD: 15 Minutos por Cenário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- Gravação (5min) + Exportação (5min) + Validação (5min).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286000"/>
            <a:ext cx="3657600" cy="2743200"/>
          </a:xfrm>
          <a:prstGeom prst="roundRect">
            <a:avLst/>
          </a:prstGeom>
          <a:solidFill>
            <a:srgbClr val="0B3860"/>
          </a:solidFill>
          <a:ln>
            <a:solidFill>
              <a:srgbClr val="4D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Aceleração de 16x</a:t>
            </a:r>
          </a:p>
          <a:p>
            <a:r>
              <a:t>na entrega de novos testes.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8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Impacto Financeiro e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4DA6FF"/>
                </a:solidFill>
              </a:defRPr>
            </a:pPr>
            <a:r>
              <a:t>Estimativa para 100 Cenários Automatizados: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• Método Tradicional: ~400 Horas</a:t>
            </a:r>
          </a:p>
          <a:p>
            <a:pPr>
              <a:defRPr b="1" sz="2400">
                <a:solidFill>
                  <a:srgbClr val="2ECC71"/>
                </a:solidFill>
              </a:defRPr>
            </a:pPr>
            <a:r>
              <a:t>• Com Extensão BDD: ~25 Horas</a:t>
            </a:r>
          </a:p>
        </p:txBody>
      </p:sp>
      <p:sp>
        <p:nvSpPr>
          <p:cNvPr id="4" name="Rectangular Callout 3"/>
          <p:cNvSpPr/>
          <p:nvPr/>
        </p:nvSpPr>
        <p:spPr>
          <a:xfrm>
            <a:off x="4572000" y="2743200"/>
            <a:ext cx="4114800" cy="2286000"/>
          </a:xfrm>
          <a:prstGeom prst="wedgeRectCallou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400">
                <a:solidFill>
                  <a:srgbClr val="0B3860"/>
                </a:solidFill>
              </a:defRPr>
            </a:pPr>
            <a:r>
              <a:t>ECONOMIA DE 93% NO TEMPO DE DESENVOLVIMENTO DE TESTES</a:t>
            </a:r>
          </a:p>
          <a:p/>
          <a:p>
            <a:r>
              <a:t>De 2.5 Meses para &lt; 1 Semana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Ganhos Técnicos e Diferenciais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Governança de Arquitetura: Código gerado segue estritamente Page Object Model.</a:t>
            </a:r>
          </a:p>
          <a:p>
            <a:pPr>
              <a:spcBef>
                <a:spcPts val="2000"/>
              </a:spcBef>
              <a:defRPr sz="2200">
                <a:solidFill>
                  <a:srgbClr val="323232"/>
                </a:solidFill>
              </a:defRPr>
            </a:pPr>
            <a:r>
              <a:t>Resiliência: Implementação automática de 'Wait' explícitos (zero flaky tests).</a:t>
            </a:r>
          </a:p>
          <a:p>
            <a:pPr>
              <a:spcBef>
                <a:spcPts val="2000"/>
              </a:spcBef>
              <a:defRPr sz="2200">
                <a:solidFill>
                  <a:srgbClr val="323232"/>
                </a:solidFill>
              </a:defRPr>
            </a:pPr>
            <a:r>
              <a:t>Documentação Viva: Saída nativa em Gherkin (BDD), legível por todos.</a:t>
            </a:r>
          </a:p>
          <a:p>
            <a:pPr>
              <a:spcBef>
                <a:spcPts val="2000"/>
              </a:spcBef>
              <a:defRPr sz="2200">
                <a:solidFill>
                  <a:srgbClr val="323232"/>
                </a:solidFill>
              </a:defRPr>
            </a:pPr>
            <a:r>
              <a:t>Sem Lock-in: Código Python/Selenium puro, propriedade da empresa.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57200"/>
          </a:xfrm>
        </p:spPr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Integração DevOps &amp;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Esteira Automática: O código gerado é compatível nativamente com Jenkins, GitHub Actions, Azure DevOps.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Execução Headless: Testes prontos para rodar em containers Docker sem interface gráfica.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Feedback Rápido: Integração contínua garante que falhas sejam detectadas minutos após o commit.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286000"/>
            <a:ext cx="3657600" cy="2743200"/>
          </a:xfrm>
          <a:prstGeom prst="roundRect">
            <a:avLst/>
          </a:prstGeom>
          <a:solidFill>
            <a:srgbClr val="0B3860"/>
          </a:solidFill>
          <a:ln>
            <a:solidFill>
              <a:srgbClr val="4D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Plug &amp; Play:</a:t>
            </a:r>
          </a:p>
          <a:p>
            <a:r>
              <a:t>Gere o teste localmente, execute na nuvem imediatamente.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457200"/>
          </a:xfrm>
        </p:spPr>
        <p:txBody>
          <a:bodyPr/>
          <a:lstStyle/>
          <a:p>
            <a:pPr>
              <a:defRPr b="1">
                <a:solidFill>
                  <a:srgbClr val="0B3860"/>
                </a:solidFill>
              </a:defRPr>
            </a:pPr>
            <a:r>
              <a:t>Cultura, Retenção e Propriedade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C3C3C"/>
                </a:solidFill>
              </a:defRPr>
            </a:pPr>
            <a:r>
              <a:t>Retenção de Talentos: QAs deixam de ser 'robôs de teste' e viram Engenheiros de Qualidade analíticos.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Propriedade Intelectual (No Vendor Lock-in):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- O código Python/Selenium gerado é 100% ativo da empresa.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</a:defRPr>
            </a:pPr>
            <a:r>
              <a:t>- Sem licenças mensais caras ou dependência de plataformas proprietárias.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2286000"/>
            <a:ext cx="3657600" cy="2743200"/>
          </a:xfrm>
          <a:prstGeom prst="roundRect">
            <a:avLst/>
          </a:prstGeom>
          <a:solidFill>
            <a:srgbClr val="0B3860"/>
          </a:solidFill>
          <a:ln>
            <a:solidFill>
              <a:srgbClr val="4D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Segurança Jurídica:</a:t>
            </a:r>
          </a:p>
          <a:p>
            <a:r>
              <a:t>Seu ativo de automação é seu, para sempre.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8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FFFFFF"/>
                </a:solidFill>
              </a:defRPr>
            </a:pPr>
            <a:r>
              <a:t>Transforme seu QA de um gargalo operacional</a:t>
            </a:r>
          </a:p>
          <a:p>
            <a:r>
              <a:t>para um parceiro estratégico de velocidade.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